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720840" cy="67095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ESSAY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5852160" cy="47089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DDE7F0"/>
                </a:solidFill>
                <a:latin typeface="Aptos"/>
              </a:defRPr>
            </a:pPr>
            <a:r>
              <a:rPr lang="en-US" dirty="0"/>
              <a:t>T</a:t>
            </a:r>
            <a:r>
              <a:rPr dirty="0"/>
              <a:t>hesis to a coherent</a:t>
            </a:r>
            <a:r>
              <a:rPr lang="en-US" dirty="0"/>
              <a:t> essay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585216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8AD41"/>
                </a:solidFill>
                <a:latin typeface="Aptos"/>
              </a:defRPr>
            </a:pPr>
            <a:r>
              <a:rPr dirty="0"/>
              <a:t>Concepts • Models • Practice • Peer review</a:t>
            </a:r>
          </a:p>
        </p:txBody>
      </p:sp>
      <p:pic>
        <p:nvPicPr>
          <p:cNvPr id="7" name="Picture 6" descr="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576" y="1120140"/>
            <a:ext cx="470916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Warm-up: What makes writing convincing?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28523"/>
            <a:ext cx="5212080" cy="1828800"/>
          </a:xfrm>
          <a:prstGeom prst="roundRect">
            <a:avLst/>
          </a:prstGeom>
          <a:solidFill>
            <a:srgbClr val="FBF0D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27048"/>
            <a:ext cx="488289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D86953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47672"/>
            <a:ext cx="4882896" cy="4247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B3441"/>
                </a:solidFill>
                <a:latin typeface="Aptos"/>
              </a:defRPr>
            </a:pPr>
            <a:r>
              <a:rPr dirty="0"/>
              <a:t>“Social media is bad.”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27048"/>
            <a:ext cx="5303520" cy="1828800"/>
          </a:xfrm>
          <a:prstGeom prst="roundRect">
            <a:avLst/>
          </a:prstGeom>
          <a:solidFill>
            <a:srgbClr val="E1F1E6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527048"/>
            <a:ext cx="4974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F704D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947672"/>
            <a:ext cx="4974336" cy="120700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B3441"/>
                </a:solidFill>
                <a:latin typeface="Aptos"/>
              </a:defRPr>
            </a:pPr>
            <a:r>
              <a:rPr dirty="0"/>
              <a:t>“Unregulated social media use can harm students’ concentration by interrupting sustained reading and study.”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10698480" cy="51706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92D4E"/>
                </a:solidFill>
                <a:latin typeface="Aptos"/>
              </a:defRPr>
            </a:pPr>
            <a:r>
              <a:rPr dirty="0"/>
              <a:t>Which statement gives a reader more to think about—and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What is an essay?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1463040"/>
            <a:ext cx="10221615" cy="855619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92D4E"/>
                </a:solidFill>
                <a:latin typeface="Aptos"/>
              </a:defRPr>
            </a:pPr>
            <a:r>
              <a:rPr dirty="0"/>
              <a:t>An essay is a structured piece of writing that develops an idea, explains a subject, narrates an experience, or argues a position.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500360" cy="2643224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lnSpc>
                <a:spcPct val="150000"/>
              </a:lnSpc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sz="2800" b="1" dirty="0"/>
              <a:t> </a:t>
            </a:r>
            <a:r>
              <a:rPr sz="2800" b="1" dirty="0"/>
              <a:t>Purpose:</a:t>
            </a:r>
            <a:r>
              <a:rPr sz="2800" dirty="0"/>
              <a:t> inform, explain, reflect, narrate, or persuade.</a:t>
            </a:r>
          </a:p>
          <a:p>
            <a:pPr>
              <a:lnSpc>
                <a:spcPct val="150000"/>
              </a:lnSpc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sz="2800" b="1" dirty="0"/>
              <a:t> </a:t>
            </a:r>
            <a:r>
              <a:rPr sz="2800" b="1" dirty="0"/>
              <a:t>Audience:</a:t>
            </a:r>
            <a:r>
              <a:rPr sz="2800" dirty="0"/>
              <a:t> the reader whose knowledge and expectations matter.</a:t>
            </a:r>
          </a:p>
          <a:p>
            <a:pPr>
              <a:lnSpc>
                <a:spcPct val="150000"/>
              </a:lnSpc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sz="2800" b="1" dirty="0"/>
              <a:t> </a:t>
            </a:r>
            <a:r>
              <a:rPr sz="2800" b="1" dirty="0"/>
              <a:t>Focus:</a:t>
            </a:r>
            <a:r>
              <a:rPr sz="2800" dirty="0"/>
              <a:t> one controlling idea or question.</a:t>
            </a:r>
          </a:p>
          <a:p>
            <a:pPr>
              <a:lnSpc>
                <a:spcPct val="150000"/>
              </a:lnSpc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sz="2800" b="1" dirty="0"/>
              <a:t> </a:t>
            </a:r>
            <a:r>
              <a:rPr sz="2800" b="1" dirty="0"/>
              <a:t>Development:</a:t>
            </a:r>
            <a:r>
              <a:rPr sz="2800" dirty="0"/>
              <a:t> reasons, examples, facts, analysis, or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Four common essay purposes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F704D"/>
                </a:solidFill>
                <a:latin typeface="Aptos"/>
              </a:defRPr>
            </a:pPr>
            <a:r>
              <a:rPr sz="1600" dirty="0"/>
              <a:t>Genres can overlap; purpose determines the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49240" cy="1783080"/>
          </a:xfrm>
          <a:prstGeom prst="roundRect">
            <a:avLst/>
          </a:prstGeom>
          <a:solidFill>
            <a:srgbClr val="E1EBF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72768"/>
            <a:ext cx="5020055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92D4E"/>
                </a:solidFill>
                <a:latin typeface="Aptos"/>
              </a:defRPr>
            </a:pPr>
            <a:r>
              <a:t>NARRATIVE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93392"/>
            <a:ext cx="5020055" cy="11612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Tell a story or experience.</a:t>
            </a:r>
          </a:p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Example: A day that changed my life.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49240" cy="1783080"/>
          </a:xfrm>
          <a:prstGeom prst="roundRect">
            <a:avLst/>
          </a:prstGeom>
          <a:solidFill>
            <a:srgbClr val="E1F1E6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1572768"/>
            <a:ext cx="5020055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F704D"/>
                </a:solidFill>
                <a:latin typeface="Aptos"/>
              </a:defRPr>
            </a:pPr>
            <a:r>
              <a:t>DESCRIPTIVE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993392"/>
            <a:ext cx="5020055" cy="11612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Create a vivid impression.</a:t>
            </a:r>
          </a:p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Example: A place I remember.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5349240" cy="1783080"/>
          </a:xfrm>
          <a:prstGeom prst="roundRect">
            <a:avLst/>
          </a:prstGeom>
          <a:solidFill>
            <a:srgbClr val="FBF0D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3721608"/>
            <a:ext cx="5020055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D86953"/>
                </a:solidFill>
                <a:latin typeface="Aptos"/>
              </a:defRPr>
            </a:pPr>
            <a:r>
              <a:t>EXPOSITORY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142232"/>
            <a:ext cx="5020055" cy="11612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Explain or analyze.</a:t>
            </a:r>
          </a:p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Example: Causes of climate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611880"/>
            <a:ext cx="5349240" cy="1783080"/>
          </a:xfrm>
          <a:prstGeom prst="roundRect">
            <a:avLst/>
          </a:prstGeom>
          <a:solidFill>
            <a:srgbClr val="EFE2EF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3721608"/>
            <a:ext cx="5020055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7760A4"/>
                </a:solidFill>
                <a:latin typeface="Aptos"/>
              </a:defRPr>
            </a:pPr>
            <a:r>
              <a:t>ARGUMENTATIVE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4142232"/>
            <a:ext cx="5020055" cy="11612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Defend a claim with reasons and evidence.</a:t>
            </a:r>
          </a:p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Example: Should university education be free?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The three-part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79" y="1376172"/>
            <a:ext cx="4800600" cy="1143000"/>
          </a:xfrm>
          <a:prstGeom prst="roundRect">
            <a:avLst/>
          </a:prstGeom>
          <a:solidFill>
            <a:srgbClr val="E1EBF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27048"/>
            <a:ext cx="447141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92D4E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47672"/>
            <a:ext cx="4471416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 sz="1600" dirty="0"/>
              <a:t>Context + focus + 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4800600" cy="1143000"/>
          </a:xfrm>
          <a:prstGeom prst="roundRect">
            <a:avLst/>
          </a:prstGeom>
          <a:solidFill>
            <a:srgbClr val="E1F1E6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852928"/>
            <a:ext cx="447141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F704D"/>
                </a:solidFill>
                <a:latin typeface="Aptos"/>
              </a:defRPr>
            </a:pPr>
            <a:r>
              <a:t>2. BODY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273552"/>
            <a:ext cx="4471416" cy="52120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 dirty="0"/>
              <a:t>Main points + evidence +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4800600" cy="1143000"/>
          </a:xfrm>
          <a:prstGeom prst="roundRect">
            <a:avLst/>
          </a:prstGeom>
          <a:solidFill>
            <a:srgbClr val="FBF0D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4178808"/>
            <a:ext cx="447141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D86953"/>
                </a:solidFill>
                <a:latin typeface="Aptos"/>
              </a:defRPr>
            </a:pPr>
            <a:r>
              <a:t>3.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599432"/>
            <a:ext cx="4471416" cy="52120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 dirty="0"/>
              <a:t>Synthesis + final implication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10789920" cy="11018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36F7E"/>
                </a:solidFill>
                <a:latin typeface="Aptos"/>
              </a:defRPr>
            </a:pPr>
            <a:r>
              <a:rPr dirty="0"/>
              <a:t>The number of paragraphs depends on the task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  <a:defRPr sz="1400" b="0">
                <a:solidFill>
                  <a:srgbClr val="636F7E"/>
                </a:solidFill>
                <a:latin typeface="Aptos"/>
              </a:defRPr>
            </a:pPr>
            <a:r>
              <a:rPr lang="en-US" dirty="0"/>
              <a:t> </a:t>
            </a:r>
          </a:p>
          <a:p>
            <a:pPr>
              <a:spcAft>
                <a:spcPts val="600"/>
              </a:spcAft>
              <a:defRPr sz="1400" b="0">
                <a:solidFill>
                  <a:srgbClr val="636F7E"/>
                </a:solidFill>
                <a:latin typeface="Aptos"/>
              </a:defRPr>
            </a:pPr>
            <a:r>
              <a:rPr lang="en-US" sz="2400" dirty="0">
                <a:solidFill>
                  <a:srgbClr val="FF0000"/>
                </a:solidFill>
              </a:rPr>
              <a:t>What should not be included in a conclusion? </a:t>
            </a:r>
            <a:endParaRPr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38328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rPr dirty="0"/>
              <a:t>The introduction: orient the reader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3289555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lnSpc>
                <a:spcPct val="150000"/>
              </a:lnSpc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sz="2800" dirty="0"/>
              <a:t> </a:t>
            </a:r>
            <a:r>
              <a:rPr sz="2800" dirty="0"/>
              <a:t>Begin with relevant context or a compelling question.</a:t>
            </a:r>
          </a:p>
          <a:p>
            <a:pPr>
              <a:lnSpc>
                <a:spcPct val="150000"/>
              </a:lnSpc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sz="2800" dirty="0"/>
              <a:t> </a:t>
            </a:r>
            <a:r>
              <a:rPr sz="2800" dirty="0"/>
              <a:t>Narrow the focus so the topic is manageable.</a:t>
            </a:r>
          </a:p>
          <a:p>
            <a:pPr>
              <a:lnSpc>
                <a:spcPct val="150000"/>
              </a:lnSpc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sz="2800" dirty="0"/>
              <a:t> </a:t>
            </a:r>
            <a:r>
              <a:rPr sz="2800" dirty="0"/>
              <a:t>State the thesis clearly, usually near the end of the introduction.</a:t>
            </a:r>
          </a:p>
          <a:p>
            <a:pPr>
              <a:lnSpc>
                <a:spcPct val="150000"/>
              </a:lnSpc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sz="2800" dirty="0"/>
              <a:t> </a:t>
            </a:r>
            <a:r>
              <a:rPr sz="2800" dirty="0"/>
              <a:t>Avoid sweeping claims, dictionary openings, and promises the essay cannot </a:t>
            </a:r>
            <a:r>
              <a:rPr lang="en-US" sz="2800" dirty="0"/>
              <a:t>fulfill</a:t>
            </a:r>
            <a:r>
              <a:rPr sz="2800" dirty="0"/>
              <a:t>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22960" y="4706875"/>
            <a:ext cx="10515600" cy="1812797"/>
          </a:xfrm>
          <a:prstGeom prst="roundRect">
            <a:avLst/>
          </a:prstGeom>
          <a:solidFill>
            <a:srgbClr val="E1EBF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5093208"/>
            <a:ext cx="1018641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92D4E"/>
                </a:solidFill>
                <a:latin typeface="Aptos"/>
              </a:defRPr>
            </a:pPr>
            <a:r>
              <a:rPr dirty="0"/>
              <a:t>Example opening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513832"/>
            <a:ext cx="10186416" cy="76328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B3441"/>
                </a:solidFill>
                <a:latin typeface="Aptos"/>
              </a:defRPr>
            </a:pPr>
            <a:r>
              <a:rPr sz="2000" dirty="0"/>
              <a:t>“Universities increasingly use digital platforms to support learning. The key question is not whether technology belongs in education, but how it should be used</a:t>
            </a:r>
            <a:r>
              <a:rPr lang="en-US" sz="2000" dirty="0"/>
              <a:t>…</a:t>
            </a:r>
            <a:r>
              <a:rPr sz="2000" dirty="0"/>
              <a:t>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The thesis statement: the essay’s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F704D"/>
                </a:solidFill>
                <a:latin typeface="Aptos"/>
              </a:defRPr>
            </a:pPr>
            <a:r>
              <a:rPr sz="1600" dirty="0"/>
              <a:t>A strong thesis is focused, arguable, and supportable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03520" cy="1508760"/>
          </a:xfrm>
          <a:prstGeom prst="roundRect">
            <a:avLst/>
          </a:prstGeom>
          <a:solidFill>
            <a:srgbClr val="FBF0D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72768"/>
            <a:ext cx="4974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D86953"/>
                </a:solidFill>
                <a:latin typeface="Aptos"/>
              </a:defRPr>
            </a:pPr>
            <a:r>
              <a:t>TOO BROAD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93392"/>
            <a:ext cx="4974336" cy="51706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B3441"/>
                </a:solidFill>
                <a:latin typeface="Aptos"/>
              </a:defRPr>
            </a:pPr>
            <a:r>
              <a:rPr sz="2400" dirty="0"/>
              <a:t>“Social media affects students.”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303520" cy="1508760"/>
          </a:xfrm>
          <a:prstGeom prst="roundRect">
            <a:avLst/>
          </a:prstGeom>
          <a:solidFill>
            <a:srgbClr val="E1F1E6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572768"/>
            <a:ext cx="4974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704D"/>
                </a:solidFill>
                <a:latin typeface="Aptos"/>
              </a:defRPr>
            </a:pPr>
            <a:r>
              <a:t>MORE EFFECTIVE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993392"/>
            <a:ext cx="4974336" cy="93256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rPr dirty="0"/>
              <a:t>“Responsible use of social media can support learning by expanding access to resources and enabling peer collaboration.”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10698480" cy="997196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buChar char="•"/>
              <a:defRPr sz="19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It answers the question rather than merely naming the topic.</a:t>
            </a:r>
          </a:p>
          <a:p>
            <a:pPr>
              <a:buChar char="•"/>
              <a:defRPr sz="19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It gives the essay a clear direction.</a:t>
            </a:r>
          </a:p>
          <a:p>
            <a:pPr>
              <a:buChar char="•"/>
              <a:defRPr sz="19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Its key parts can become the main points of the body.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Practice 1: improve the 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92D4E"/>
                </a:solidFill>
                <a:latin typeface="Aptos"/>
              </a:defRPr>
            </a:pPr>
            <a:r>
              <a:t>Question: Should university education be free?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5029200" cy="1234440"/>
          </a:xfrm>
          <a:prstGeom prst="roundRect">
            <a:avLst/>
          </a:prstGeom>
          <a:solidFill>
            <a:srgbClr val="FBF0D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470001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D86953"/>
                </a:solidFill>
                <a:latin typeface="Aptos"/>
              </a:defRPr>
            </a:pPr>
            <a:r>
              <a:t>Draft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62072"/>
            <a:ext cx="4700016" cy="6126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B3441"/>
                </a:solidFill>
                <a:latin typeface="Aptos"/>
              </a:defRPr>
            </a:pPr>
            <a:r>
              <a:t>“Education is important.”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31720"/>
            <a:ext cx="5212080" cy="1234440"/>
          </a:xfrm>
          <a:prstGeom prst="roundRect">
            <a:avLst/>
          </a:prstGeom>
          <a:solidFill>
            <a:srgbClr val="E1EBF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2441448"/>
            <a:ext cx="488289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92D4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862072"/>
            <a:ext cx="4882896" cy="6126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B3441"/>
                </a:solidFill>
                <a:latin typeface="Aptos"/>
              </a:defRPr>
            </a:pPr>
            <a:r>
              <a:t>Make the claim specific. Add a position and two or three reasons.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10515600" cy="9144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04D"/>
                </a:solidFill>
                <a:latin typeface="Aptos"/>
              </a:defRPr>
            </a:pPr>
            <a:r>
              <a:t>Sentence frame (optional): University education should/should not be free because…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The body: one paragraph, one main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F704D"/>
                </a:solidFill>
                <a:latin typeface="Aptos"/>
              </a:defRPr>
            </a:pPr>
            <a:r>
              <a:rPr sz="1600" dirty="0"/>
              <a:t>A paragraph should develop—not merely announce—a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ra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17320"/>
            <a:ext cx="448056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799" y="1963994"/>
            <a:ext cx="6285271" cy="1966692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sz="2000" b="1" dirty="0"/>
              <a:t>Topic sentence:</a:t>
            </a:r>
            <a:r>
              <a:rPr sz="2000" dirty="0"/>
              <a:t> states the paragraph’s controlling point.</a:t>
            </a:r>
          </a:p>
          <a:p>
            <a:pPr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sz="2000" dirty="0"/>
              <a:t> </a:t>
            </a:r>
            <a:r>
              <a:rPr sz="2000" b="1" dirty="0"/>
              <a:t>Evidence/example:</a:t>
            </a:r>
            <a:r>
              <a:rPr sz="2000" dirty="0"/>
              <a:t> gives the reader something concrete.</a:t>
            </a:r>
          </a:p>
          <a:p>
            <a:pPr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sz="2000" dirty="0"/>
              <a:t> </a:t>
            </a:r>
            <a:r>
              <a:rPr sz="2000" b="1" dirty="0"/>
              <a:t>Explanation:</a:t>
            </a:r>
            <a:r>
              <a:rPr sz="2000" dirty="0"/>
              <a:t> shows why the evidence matters.</a:t>
            </a:r>
          </a:p>
          <a:p>
            <a:pPr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sz="2000" dirty="0"/>
              <a:t> </a:t>
            </a:r>
            <a:r>
              <a:rPr sz="2000" b="1" dirty="0"/>
              <a:t>Link:</a:t>
            </a:r>
            <a:r>
              <a:rPr sz="2000" dirty="0"/>
              <a:t> connects the point to the thesis or next idea.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Model paragraph: notice the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F704D"/>
                </a:solidFill>
                <a:latin typeface="Aptos"/>
              </a:defRPr>
            </a:pPr>
            <a:r>
              <a:rPr sz="1600" dirty="0"/>
              <a:t>Read for claim → example → explanation → link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108356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77777"/>
            <a:ext cx="1050645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704D"/>
                </a:solidFill>
                <a:latin typeface="Aptos"/>
              </a:defRPr>
            </a:pPr>
            <a:r>
              <a:rPr dirty="0"/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30553"/>
            <a:ext cx="10506456" cy="262432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B3441"/>
                </a:solidFill>
                <a:latin typeface="Aptos"/>
              </a:defRPr>
            </a:pPr>
            <a:r>
              <a:rPr dirty="0"/>
              <a:t>Social media can make educational resources more accessible to students. Online platforms allow learners to access recorded lectures, digital libraries, and discussions beyond the classroom. For example, a student who misses a lecture may review a recording and ask questions in a course forum. This flexibility can help learners revisit difficult material at their own pace. Used responsibly, social media can therefore complement formal teaching.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424160" cy="1166473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buChar char="•"/>
              <a:defRPr sz="17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Underline the topic sentence.</a:t>
            </a:r>
          </a:p>
          <a:p>
            <a:pPr>
              <a:buChar char="•"/>
              <a:defRPr sz="17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Circle the example.</a:t>
            </a:r>
          </a:p>
          <a:p>
            <a:pPr>
              <a:buChar char="•"/>
              <a:defRPr sz="17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Mark the sentence that explains why the example matters.</a:t>
            </a:r>
            <a:endParaRPr lang="en-US" dirty="0"/>
          </a:p>
          <a:p>
            <a:pPr>
              <a:buChar char="•"/>
              <a:defRPr sz="17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Which is the concluding sentence?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Evidence is not the same as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F704D"/>
                </a:solidFill>
                <a:latin typeface="Aptos"/>
              </a:defRPr>
            </a:pPr>
            <a:r>
              <a:rPr sz="1600" dirty="0"/>
              <a:t>Use sources responsibly; explain their relevance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520440" cy="1920240"/>
          </a:xfrm>
          <a:prstGeom prst="roundRect">
            <a:avLst/>
          </a:prstGeom>
          <a:solidFill>
            <a:srgbClr val="E1EBF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72768"/>
            <a:ext cx="319125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92D4E"/>
                </a:solidFill>
                <a:latin typeface="Aptos"/>
              </a:defRPr>
            </a:pPr>
            <a:r>
              <a:t>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93392"/>
            <a:ext cx="3191256" cy="12984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B3441"/>
                </a:solidFill>
                <a:latin typeface="Aptos"/>
              </a:defRPr>
            </a:pPr>
            <a:r>
              <a:rPr dirty="0"/>
              <a:t>“Regular reading improves vocabulary.”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20440" cy="1920240"/>
          </a:xfrm>
          <a:prstGeom prst="roundRect">
            <a:avLst/>
          </a:prstGeom>
          <a:solidFill>
            <a:srgbClr val="E1F1E6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572768"/>
            <a:ext cx="319125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704D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993392"/>
            <a:ext cx="3191256" cy="12984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B3441"/>
                </a:solidFill>
                <a:latin typeface="Aptos"/>
              </a:defRPr>
            </a:pPr>
            <a:r>
              <a:rPr dirty="0"/>
              <a:t>A credible study or a specific, relevant example.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520440" cy="1920240"/>
          </a:xfrm>
          <a:prstGeom prst="roundRect">
            <a:avLst/>
          </a:prstGeom>
          <a:solidFill>
            <a:srgbClr val="FBF0D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1572768"/>
            <a:ext cx="319125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D86953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993392"/>
            <a:ext cx="3191256" cy="12984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B3441"/>
                </a:solidFill>
                <a:latin typeface="Aptos"/>
              </a:defRPr>
            </a:pPr>
            <a:r>
              <a:rPr dirty="0"/>
              <a:t>Explain how the evidence supports the claim.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332720" cy="88639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92D4E"/>
                </a:solidFill>
                <a:latin typeface="Aptos"/>
              </a:defRPr>
            </a:pPr>
            <a:r>
              <a:rPr sz="2400" dirty="0"/>
              <a:t>Avoid “quote dumping”: a quotation does not explain itself. Introduce it, cite it when required, and interpret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332720" cy="455509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636F7E"/>
                </a:solidFill>
                <a:latin typeface="Aptos"/>
              </a:defRPr>
            </a:pPr>
            <a:r>
              <a:rPr sz="2000" dirty="0"/>
              <a:t>In academic work, use reliable sources and follow the required citation style.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Coherence vs. cohesion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1965960"/>
          </a:xfrm>
          <a:prstGeom prst="roundRect">
            <a:avLst/>
          </a:prstGeom>
          <a:solidFill>
            <a:srgbClr val="E1EBF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64207"/>
            <a:ext cx="483717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92D4E"/>
                </a:solidFill>
                <a:latin typeface="Aptos"/>
              </a:defRPr>
            </a:pPr>
            <a:r>
              <a:t>COHERENCE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84831"/>
            <a:ext cx="4837176" cy="134416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B3441"/>
                </a:solidFill>
                <a:latin typeface="Aptos"/>
              </a:defRPr>
            </a:pPr>
            <a:r>
              <a:t>The overall logic and order of ideas make sense.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166360" cy="1965960"/>
          </a:xfrm>
          <a:prstGeom prst="roundRect">
            <a:avLst/>
          </a:prstGeom>
          <a:solidFill>
            <a:srgbClr val="E1F1E6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664207"/>
            <a:ext cx="483717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04D"/>
                </a:solidFill>
                <a:latin typeface="Aptos"/>
              </a:defRPr>
            </a:pPr>
            <a:r>
              <a:t>COHESION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084831"/>
            <a:ext cx="4837176" cy="134416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B3441"/>
                </a:solidFill>
                <a:latin typeface="Aptos"/>
              </a:defRPr>
            </a:pPr>
            <a:r>
              <a:rPr dirty="0"/>
              <a:t>Language links sentences and ideas: reference, repetition, transitions.</a:t>
            </a:r>
          </a:p>
        </p:txBody>
      </p:sp>
      <p:pic>
        <p:nvPicPr>
          <p:cNvPr id="13" name="Picture 12" descr="tran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794760"/>
            <a:ext cx="63093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786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rPr lang="en-US" dirty="0"/>
              <a:t>Coherence and Cohesion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6926924" cy="40934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92D4E"/>
                </a:solidFill>
                <a:latin typeface="Aptos"/>
              </a:defRPr>
            </a:pPr>
            <a:r>
              <a:rPr lang="en-US" sz="1700" b="1" dirty="0">
                <a:solidFill>
                  <a:srgbClr val="192D4E"/>
                </a:solidFill>
                <a:latin typeface="Aptos"/>
              </a:rPr>
              <a:t>Cohesive but NOT Coherent (Flows well, but makes no sense)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50392" y="1947672"/>
            <a:ext cx="10671048" cy="455509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 lang="en-US" sz="2000" dirty="0">
                <a:solidFill>
                  <a:srgbClr val="2B3441"/>
                </a:solidFill>
                <a:latin typeface="Aptos"/>
              </a:rPr>
              <a:t>I bought a </a:t>
            </a:r>
            <a:r>
              <a:rPr lang="en-US" sz="2000" b="1" dirty="0">
                <a:solidFill>
                  <a:srgbClr val="2B3441"/>
                </a:solidFill>
                <a:latin typeface="Aptos"/>
              </a:rPr>
              <a:t>car</a:t>
            </a:r>
            <a:r>
              <a:rPr lang="en-US" sz="2000" dirty="0">
                <a:solidFill>
                  <a:srgbClr val="2B3441"/>
                </a:solidFill>
                <a:latin typeface="Aptos"/>
              </a:rPr>
              <a:t> today. The </a:t>
            </a:r>
            <a:r>
              <a:rPr lang="en-US" sz="2000" b="1" dirty="0">
                <a:solidFill>
                  <a:srgbClr val="2B3441"/>
                </a:solidFill>
                <a:latin typeface="Aptos"/>
              </a:rPr>
              <a:t>car</a:t>
            </a:r>
            <a:r>
              <a:rPr lang="en-US" sz="2000" dirty="0">
                <a:solidFill>
                  <a:srgbClr val="2B3441"/>
                </a:solidFill>
                <a:latin typeface="Aptos"/>
              </a:rPr>
              <a:t> was red. </a:t>
            </a:r>
            <a:r>
              <a:rPr lang="en-US" sz="2000" b="1" dirty="0">
                <a:solidFill>
                  <a:srgbClr val="2B3441"/>
                </a:solidFill>
                <a:latin typeface="Aptos"/>
              </a:rPr>
              <a:t>Red</a:t>
            </a:r>
            <a:r>
              <a:rPr lang="en-US" sz="2000" dirty="0">
                <a:solidFill>
                  <a:srgbClr val="2B3441"/>
                </a:solidFill>
                <a:latin typeface="Aptos"/>
              </a:rPr>
              <a:t> is the color of a tomato. </a:t>
            </a:r>
            <a:r>
              <a:rPr lang="en-US" sz="2000" b="1" dirty="0">
                <a:solidFill>
                  <a:srgbClr val="2B3441"/>
                </a:solidFill>
                <a:latin typeface="Aptos"/>
              </a:rPr>
              <a:t>Tomatoes</a:t>
            </a:r>
            <a:r>
              <a:rPr lang="en-US" sz="2000" dirty="0">
                <a:solidFill>
                  <a:srgbClr val="2B3441"/>
                </a:solidFill>
                <a:latin typeface="Aptos"/>
              </a:rPr>
              <a:t> grow in the garden.</a:t>
            </a:r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50392" y="3127248"/>
            <a:ext cx="10671048" cy="40934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92D4E"/>
                </a:solidFill>
                <a:latin typeface="Aptos"/>
              </a:defRPr>
            </a:pPr>
            <a:r>
              <a:rPr lang="en-US" sz="1700" b="1" dirty="0">
                <a:solidFill>
                  <a:srgbClr val="192D4E"/>
                </a:solidFill>
                <a:latin typeface="Aptos"/>
              </a:rPr>
              <a:t>Coherent but NOT Cohesive (Makes sense, but choppy to read)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50391" y="3547872"/>
            <a:ext cx="10671047" cy="455509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B3441"/>
                </a:solidFill>
                <a:latin typeface="Aptos"/>
              </a:defRPr>
            </a:pPr>
            <a:r>
              <a:rPr lang="en-US" sz="2000" dirty="0">
                <a:solidFill>
                  <a:srgbClr val="2B3441"/>
                </a:solidFill>
                <a:latin typeface="Aptos"/>
              </a:rPr>
              <a:t>The rain was heavy. The soccer match was canceled. The players went home.</a:t>
            </a:r>
            <a:endParaRPr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850391" y="4797206"/>
            <a:ext cx="10332720" cy="701731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92D4E"/>
                </a:solidFill>
                <a:latin typeface="Aptos"/>
              </a:defRPr>
            </a:pPr>
            <a:r>
              <a:rPr lang="en-US" b="1" dirty="0">
                <a:solidFill>
                  <a:srgbClr val="192D4E"/>
                </a:solidFill>
                <a:latin typeface="Aptos"/>
              </a:rPr>
              <a:t>The rain was exceptionally heavy; therefore, the soccer match was canceled. Because of this disappointment, the players decided to go home early.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rPr dirty="0"/>
              <a:t>Sentence craft: clarity before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2383986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lnSpc>
                <a:spcPct val="150000"/>
              </a:lnSpc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Prefer precise verbs and concrete nouns.</a:t>
            </a:r>
          </a:p>
          <a:p>
            <a:pPr>
              <a:lnSpc>
                <a:spcPct val="150000"/>
              </a:lnSpc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Vary sentence length to control pace and emphasis.</a:t>
            </a:r>
          </a:p>
          <a:p>
            <a:pPr>
              <a:lnSpc>
                <a:spcPct val="150000"/>
              </a:lnSpc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Check sentence boundaries: avoid fragments and run-ons.</a:t>
            </a:r>
          </a:p>
          <a:p>
            <a:pPr>
              <a:lnSpc>
                <a:spcPct val="150000"/>
              </a:lnSpc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Place modifiers near the words they describe.</a:t>
            </a:r>
          </a:p>
          <a:p>
            <a:pPr>
              <a:lnSpc>
                <a:spcPct val="150000"/>
              </a:lnSpc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Use parallel structure for ideas of equal importance.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786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rPr dirty="0"/>
              <a:t>Plan before drafting: </a:t>
            </a:r>
            <a:r>
              <a:rPr lang="en-US" dirty="0"/>
              <a:t>write an</a:t>
            </a:r>
            <a:r>
              <a:rPr dirty="0"/>
              <a:t>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F704D"/>
                </a:solidFill>
                <a:latin typeface="Aptos"/>
              </a:defRPr>
            </a:pPr>
            <a:r>
              <a:rPr sz="1600" dirty="0"/>
              <a:t>An outline helps test the logic before writing full paragraphs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0" cy="1966692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sz="2400" dirty="0"/>
              <a:t>Essay question: What exactly must I answer?</a:t>
            </a:r>
          </a:p>
          <a:p>
            <a:pPr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sz="2400" dirty="0"/>
              <a:t> </a:t>
            </a:r>
            <a:r>
              <a:rPr sz="2400" dirty="0"/>
              <a:t>Thesis: What is my central response?</a:t>
            </a:r>
          </a:p>
          <a:p>
            <a:pPr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sz="2400" dirty="0"/>
              <a:t> </a:t>
            </a:r>
            <a:r>
              <a:rPr sz="2400" dirty="0"/>
              <a:t>Point 1: What is the strongest reason?</a:t>
            </a:r>
          </a:p>
          <a:p>
            <a:pPr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sz="2400" dirty="0"/>
              <a:t> </a:t>
            </a:r>
            <a:r>
              <a:rPr sz="2400" dirty="0"/>
              <a:t>Point 2: What other reason or perspective matters?</a:t>
            </a:r>
          </a:p>
          <a:p>
            <a:pPr>
              <a:buChar char="•"/>
              <a:defRPr sz="1800">
                <a:solidFill>
                  <a:srgbClr val="2B3441"/>
                </a:solidFill>
                <a:latin typeface="Aptos"/>
              </a:defRPr>
            </a:pPr>
            <a:r>
              <a:rPr lang="en-US" sz="2400" dirty="0"/>
              <a:t> </a:t>
            </a:r>
            <a:r>
              <a:rPr sz="2400" dirty="0"/>
              <a:t>Point 3: What evidence, example, or qualification is needed?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424160" cy="37856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704D"/>
                </a:solidFill>
                <a:latin typeface="Aptos"/>
              </a:defRPr>
            </a:pPr>
            <a:r>
              <a:rPr dirty="0"/>
              <a:t>Order points by logic—not simply by the order in which they occurred to you.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Activity 2: build a mini-essay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1371600"/>
          </a:xfrm>
          <a:prstGeom prst="roundRect">
            <a:avLst/>
          </a:prstGeom>
          <a:solidFill>
            <a:srgbClr val="E1EBF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483717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92D4E"/>
                </a:solidFill>
                <a:latin typeface="Aptos"/>
              </a:defRPr>
            </a:pPr>
            <a:r>
              <a:t>Choose ONE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47672"/>
            <a:ext cx="5001768" cy="717119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A. Should </a:t>
            </a:r>
            <a:r>
              <a:rPr lang="en-US" dirty="0"/>
              <a:t>English be the official language of Pakistan</a:t>
            </a:r>
            <a:r>
              <a:rPr dirty="0"/>
              <a:t>?</a:t>
            </a:r>
          </a:p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B. Does AI help or hinder student learning?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5303520" cy="1965960"/>
          </a:xfrm>
          <a:prstGeom prst="roundRect">
            <a:avLst/>
          </a:prstGeom>
          <a:solidFill>
            <a:srgbClr val="E1F1E6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1527048"/>
            <a:ext cx="4974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704D"/>
                </a:solidFill>
                <a:latin typeface="Aptos"/>
              </a:defRPr>
            </a:pPr>
            <a:r>
              <a:t>Create a 5-part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947672"/>
            <a:ext cx="4974336" cy="136345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1 thesis</a:t>
            </a:r>
          </a:p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2–3 body points</a:t>
            </a:r>
          </a:p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1 possible counterargument</a:t>
            </a:r>
            <a:r>
              <a:rPr lang="en-US" dirty="0"/>
              <a:t> </a:t>
            </a:r>
            <a:endParaRPr dirty="0"/>
          </a:p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1 concluding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149840" cy="2057400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t>Write a one-sentence thesis.</a:t>
            </a:r>
          </a:p>
          <a:p>
            <a:pPr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t>List three points and a supporting example for each.</a:t>
            </a:r>
          </a:p>
          <a:p>
            <a:pPr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t>Choose the strongest order and explain why.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Stronger arguments consider another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74720" cy="2057400"/>
          </a:xfrm>
          <a:prstGeom prst="roundRect">
            <a:avLst/>
          </a:prstGeom>
          <a:solidFill>
            <a:srgbClr val="E1EBF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18488"/>
            <a:ext cx="31455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92D4E"/>
                </a:solidFill>
                <a:latin typeface="Aptos"/>
              </a:defRPr>
            </a:pPr>
            <a:r>
              <a:t>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39112"/>
            <a:ext cx="3145536" cy="143560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B3441"/>
                </a:solidFill>
                <a:latin typeface="Aptos"/>
              </a:defRPr>
            </a:pPr>
            <a:r>
              <a:t>State your claim clearly.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74720" cy="2057400"/>
          </a:xfrm>
          <a:prstGeom prst="roundRect">
            <a:avLst/>
          </a:prstGeom>
          <a:solidFill>
            <a:srgbClr val="FBF0D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618488"/>
            <a:ext cx="31455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D86953"/>
                </a:solidFill>
                <a:latin typeface="Aptos"/>
              </a:defRPr>
            </a:pPr>
            <a:r>
              <a:t>COUNTERARGUMENT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39112"/>
            <a:ext cx="3145536" cy="143560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Represent a reasonable opposing view fairly.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474720" cy="2057400"/>
          </a:xfrm>
          <a:prstGeom prst="roundRect">
            <a:avLst/>
          </a:prstGeom>
          <a:solidFill>
            <a:srgbClr val="E1F1E6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1618488"/>
            <a:ext cx="31455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F704D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039112"/>
            <a:ext cx="3145536" cy="64017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Accept a valid point or explain why your case remains stronger.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332720" cy="48628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92D4E"/>
                </a:solidFill>
                <a:latin typeface="Aptos"/>
              </a:defRPr>
            </a:pPr>
            <a:r>
              <a:rPr dirty="0"/>
              <a:t>Useful language: “Critics may argue that… However, this view overlooks…”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32720" cy="455509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36F7E"/>
                </a:solidFill>
                <a:latin typeface="Aptos"/>
              </a:defRPr>
            </a:pPr>
            <a:r>
              <a:rPr sz="2000" dirty="0"/>
              <a:t>Do not invent a weak opposing view just to dismiss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The conclusion: close the 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F704D"/>
                </a:solidFill>
                <a:latin typeface="Aptos"/>
              </a:defRPr>
            </a:pPr>
            <a:r>
              <a:rPr sz="1600" dirty="0"/>
              <a:t>Synthesize rather than repeat word-for-word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1351139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Return to the thesis in light of what the essay has shown.</a:t>
            </a:r>
          </a:p>
          <a:p>
            <a:pPr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Synthesize the main points; do not list them mechanically.</a:t>
            </a:r>
          </a:p>
          <a:p>
            <a:pPr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Explain the broader implication, significance, or next question.</a:t>
            </a:r>
          </a:p>
          <a:p>
            <a:pPr>
              <a:buChar char="•"/>
              <a:defRPr sz="20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Avoid new major evidence </a:t>
            </a:r>
            <a:r>
              <a:rPr lang="en-US" dirty="0"/>
              <a:t>or </a:t>
            </a:r>
            <a:r>
              <a:rPr dirty="0"/>
              <a:t>exaggerated claims.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Revision and proofreading are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e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33856"/>
            <a:ext cx="5425440" cy="32552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508760"/>
            <a:ext cx="4846320" cy="1325880"/>
          </a:xfrm>
          <a:prstGeom prst="roundRect">
            <a:avLst/>
          </a:prstGeom>
          <a:solidFill>
            <a:srgbClr val="E1EBF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18488"/>
            <a:ext cx="45171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92D4E"/>
                </a:solidFill>
                <a:latin typeface="Aptos"/>
              </a:defRPr>
            </a:pPr>
            <a:r>
              <a:t>REVISION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39112"/>
            <a:ext cx="4517136" cy="70408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Ideas, evidence, order, paragraph unity, thesis alignment.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4846320" cy="1325880"/>
          </a:xfrm>
          <a:prstGeom prst="roundRect">
            <a:avLst/>
          </a:prstGeom>
          <a:solidFill>
            <a:srgbClr val="FBF0D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172968"/>
            <a:ext cx="45171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D86953"/>
                </a:solidFill>
                <a:latin typeface="Aptos"/>
              </a:defRPr>
            </a:pPr>
            <a:r>
              <a:t>PROOFREADING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93592"/>
            <a:ext cx="4517136" cy="70408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Grammar, punctuation, spelling, citations, formatting.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607040" cy="4247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F704D"/>
                </a:solidFill>
                <a:latin typeface="Aptos"/>
              </a:defRPr>
            </a:pPr>
            <a:r>
              <a:rPr dirty="0"/>
              <a:t>Practical rule: revise with the </a:t>
            </a:r>
            <a:r>
              <a:rPr dirty="0">
                <a:solidFill>
                  <a:srgbClr val="FF0000"/>
                </a:solidFill>
              </a:rPr>
              <a:t>reader’s questions in mind</a:t>
            </a:r>
            <a:r>
              <a:rPr dirty="0"/>
              <a:t>; proofread slowly, one issue at a 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Peer review: be specific and kind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353312"/>
            <a:ext cx="310896" cy="310896"/>
          </a:xfrm>
          <a:prstGeom prst="roundRect">
            <a:avLst/>
          </a:prstGeom>
          <a:solidFill>
            <a:srgbClr val="E1F1E6"/>
          </a:solidFill>
          <a:ln>
            <a:solidFill>
              <a:srgbClr val="1F7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344168"/>
            <a:ext cx="98755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Can I identify the thesis in one sentence?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80"/>
            <a:ext cx="310896" cy="310896"/>
          </a:xfrm>
          <a:prstGeom prst="roundRect">
            <a:avLst/>
          </a:prstGeom>
          <a:solidFill>
            <a:srgbClr val="E1F1E6"/>
          </a:solidFill>
          <a:ln>
            <a:solidFill>
              <a:srgbClr val="1F7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002536"/>
            <a:ext cx="98755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Does each body point support the thesis?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670048"/>
            <a:ext cx="310896" cy="310896"/>
          </a:xfrm>
          <a:prstGeom prst="roundRect">
            <a:avLst/>
          </a:prstGeom>
          <a:solidFill>
            <a:srgbClr val="E1F1E6"/>
          </a:solidFill>
          <a:ln>
            <a:solidFill>
              <a:srgbClr val="1F7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2660904"/>
            <a:ext cx="98755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Is there an example or evidence for each key claim?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28416"/>
            <a:ext cx="310896" cy="310896"/>
          </a:xfrm>
          <a:prstGeom prst="roundRect">
            <a:avLst/>
          </a:prstGeom>
          <a:solidFill>
            <a:srgbClr val="E1F1E6"/>
          </a:solidFill>
          <a:ln>
            <a:solidFill>
              <a:srgbClr val="1F7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3319272"/>
            <a:ext cx="98755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Does the writer explain how the evidence matters?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986783"/>
            <a:ext cx="310896" cy="310896"/>
          </a:xfrm>
          <a:prstGeom prst="roundRect">
            <a:avLst/>
          </a:prstGeom>
          <a:solidFill>
            <a:srgbClr val="E1F1E6"/>
          </a:solidFill>
          <a:ln>
            <a:solidFill>
              <a:srgbClr val="1F7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39"/>
            <a:ext cx="98755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Are the ideas in a logical order?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645152"/>
            <a:ext cx="310896" cy="310896"/>
          </a:xfrm>
          <a:prstGeom prst="roundRect">
            <a:avLst/>
          </a:prstGeom>
          <a:solidFill>
            <a:srgbClr val="E1F1E6"/>
          </a:solidFill>
          <a:ln>
            <a:solidFill>
              <a:srgbClr val="1F7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636008"/>
            <a:ext cx="98755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Where did I feel confused, unconvinced, or especially engaged?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303520"/>
            <a:ext cx="310896" cy="310896"/>
          </a:xfrm>
          <a:prstGeom prst="roundRect">
            <a:avLst/>
          </a:prstGeom>
          <a:solidFill>
            <a:srgbClr val="E1F1E6"/>
          </a:solidFill>
          <a:ln>
            <a:solidFill>
              <a:srgbClr val="1F7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5294376"/>
            <a:ext cx="98755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Name one strength and one priority for revision.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636F7E"/>
                </a:solidFill>
                <a:latin typeface="Aptos"/>
              </a:defRPr>
            </a:pPr>
            <a:r>
              <a:t>Feedback formula: “I understood… / I wanted more explanation of… / One possible next step is…”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Frequent problems—and practical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9395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F704D"/>
                </a:solidFill>
                <a:latin typeface="Aptos"/>
              </a:defRPr>
            </a:pPr>
            <a:r>
              <a:rPr sz="1600" dirty="0"/>
              <a:t>Use this as a self-editing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349240" cy="1170432"/>
          </a:xfrm>
          <a:prstGeom prst="roundRect">
            <a:avLst/>
          </a:prstGeom>
          <a:solidFill>
            <a:srgbClr val="FBF0D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81328"/>
            <a:ext cx="5020055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86953"/>
                </a:solidFill>
                <a:latin typeface="Aptos"/>
              </a:defRPr>
            </a:pPr>
            <a:r>
              <a:t>No clear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01952"/>
            <a:ext cx="5020055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B3441"/>
                </a:solidFill>
                <a:latin typeface="Aptos"/>
              </a:defRPr>
            </a:pPr>
            <a:r>
              <a:rPr dirty="0"/>
              <a:t>Write a one-sentence answer to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349240" cy="1170432"/>
          </a:xfrm>
          <a:prstGeom prst="roundRect">
            <a:avLst/>
          </a:prstGeom>
          <a:solidFill>
            <a:srgbClr val="E1EBF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1481328"/>
            <a:ext cx="5020055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92D4E"/>
                </a:solidFill>
                <a:latin typeface="Aptos"/>
              </a:defRPr>
            </a:pPr>
            <a:r>
              <a:rPr dirty="0"/>
              <a:t>Paragraph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901952"/>
            <a:ext cx="5020055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B3441"/>
                </a:solidFill>
                <a:latin typeface="Aptos"/>
              </a:defRPr>
            </a:pPr>
            <a:r>
              <a:rPr dirty="0"/>
              <a:t>Give each paragraph one controlling idea.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5349240" cy="1170432"/>
          </a:xfrm>
          <a:prstGeom prst="roundRect">
            <a:avLst/>
          </a:prstGeom>
          <a:solidFill>
            <a:srgbClr val="E1F1E6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2898648"/>
            <a:ext cx="5020055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704D"/>
                </a:solidFill>
                <a:latin typeface="Aptos"/>
              </a:defRPr>
            </a:pPr>
            <a:r>
              <a:t>Unsupported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319272"/>
            <a:ext cx="5020055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B3441"/>
                </a:solidFill>
                <a:latin typeface="Aptos"/>
              </a:defRPr>
            </a:pPr>
            <a:r>
              <a:t>Add credible evidence or a specific example.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88920"/>
            <a:ext cx="5349240" cy="1170432"/>
          </a:xfrm>
          <a:prstGeom prst="roundRect">
            <a:avLst/>
          </a:prstGeom>
          <a:solidFill>
            <a:srgbClr val="FBF0D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2898648"/>
            <a:ext cx="5020055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86953"/>
                </a:solidFill>
                <a:latin typeface="Aptos"/>
              </a:defRPr>
            </a:pPr>
            <a:r>
              <a:t>Quote dumping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319272"/>
            <a:ext cx="5020055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B3441"/>
                </a:solidFill>
                <a:latin typeface="Aptos"/>
              </a:defRPr>
            </a:pPr>
            <a:r>
              <a:rPr dirty="0"/>
              <a:t>Explain the relevance of every quotation.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06240"/>
            <a:ext cx="5349240" cy="1170432"/>
          </a:xfrm>
          <a:prstGeom prst="roundRect">
            <a:avLst/>
          </a:prstGeom>
          <a:solidFill>
            <a:srgbClr val="E1EBF7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315968"/>
            <a:ext cx="5020055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92D4E"/>
                </a:solidFill>
                <a:latin typeface="Aptos"/>
              </a:defRPr>
            </a:pPr>
            <a:r>
              <a:t>Repetitive transitions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736592"/>
            <a:ext cx="5020055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B3441"/>
                </a:solidFill>
                <a:latin typeface="Aptos"/>
              </a:defRPr>
            </a:pPr>
            <a:r>
              <a:rPr dirty="0"/>
              <a:t>Choose precise links—or let the logic speak.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206240"/>
            <a:ext cx="5349240" cy="1170432"/>
          </a:xfrm>
          <a:prstGeom prst="roundRect">
            <a:avLst/>
          </a:prstGeom>
          <a:solidFill>
            <a:srgbClr val="E1F1E6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4315968"/>
            <a:ext cx="5020055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704D"/>
                </a:solidFill>
                <a:latin typeface="Aptos"/>
              </a:defRPr>
            </a:pPr>
            <a:r>
              <a:rPr dirty="0"/>
              <a:t>Conclusion repeats intro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736592"/>
            <a:ext cx="5020055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B3441"/>
                </a:solidFill>
                <a:latin typeface="Aptos"/>
              </a:defRPr>
            </a:pPr>
            <a:r>
              <a:rPr dirty="0"/>
              <a:t>Show what the argument has established.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786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rPr lang="en-US" dirty="0"/>
              <a:t>Activity 3</a:t>
            </a:r>
            <a:r>
              <a:rPr dirty="0"/>
              <a:t>: show what you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1412694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buChar char="•"/>
              <a:defRPr sz="21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Write a thesis for: “Should AI tools be allowed in university coursework?”</a:t>
            </a:r>
          </a:p>
          <a:p>
            <a:pPr>
              <a:buChar char="•"/>
              <a:defRPr sz="21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List two body paragraph points that would support your thesis.</a:t>
            </a:r>
          </a:p>
          <a:p>
            <a:pPr>
              <a:buChar char="•"/>
              <a:defRPr sz="21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Name one kind of evidence you would need.</a:t>
            </a:r>
          </a:p>
          <a:p>
            <a:pPr>
              <a:buChar char="•"/>
              <a:defRPr sz="21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Write one question you will ask yourself when revising.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10515600" cy="1011248"/>
          </a:xfrm>
          <a:prstGeom prst="roundRect">
            <a:avLst/>
          </a:prstGeom>
          <a:solidFill>
            <a:srgbClr val="E1F1E6"/>
          </a:solidFill>
          <a:ln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5184648"/>
            <a:ext cx="1018641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704D"/>
                </a:solidFill>
                <a:latin typeface="Aptos"/>
              </a:defRPr>
            </a:pPr>
            <a:r>
              <a:t>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605272"/>
            <a:ext cx="10186416" cy="20116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3441"/>
                </a:solidFill>
                <a:latin typeface="Aptos"/>
              </a:defRPr>
            </a:pPr>
            <a:r>
              <a:rPr dirty="0"/>
              <a:t>A focused claim, a logical plan, and a clear link between claim and evidence.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t>Remember the writing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66344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431" y="1508760"/>
            <a:ext cx="6037007" cy="1581972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buChar char="•"/>
              <a:defRPr sz="19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Understand the task and audience.</a:t>
            </a:r>
          </a:p>
          <a:p>
            <a:pPr>
              <a:buChar char="•"/>
              <a:defRPr sz="19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Plan a thesis and logical sequence.</a:t>
            </a:r>
          </a:p>
          <a:p>
            <a:pPr>
              <a:buChar char="•"/>
              <a:defRPr sz="19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Develop paragraphs with evidence and </a:t>
            </a:r>
            <a:r>
              <a:rPr lang="en-US" dirty="0"/>
              <a:t>its explanation</a:t>
            </a:r>
            <a:r>
              <a:rPr dirty="0"/>
              <a:t>.</a:t>
            </a:r>
          </a:p>
          <a:p>
            <a:pPr>
              <a:buChar char="•"/>
              <a:defRPr sz="19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Connect ideas; prioritize clarity.</a:t>
            </a:r>
            <a:endParaRPr lang="en-US" dirty="0"/>
          </a:p>
          <a:p>
            <a:pPr>
              <a:buChar char="•"/>
              <a:defRPr sz="19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 Revise and proofread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68680" y="5166360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92D4E"/>
                </a:solidFill>
                <a:latin typeface="Aptos"/>
              </a:defRPr>
            </a:pPr>
            <a:r>
              <a:rPr dirty="0"/>
              <a:t>Core principle: every paragraph should help the reader follow and assess your central idea.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786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92D4E"/>
                </a:solidFill>
                <a:latin typeface="Aptos"/>
              </a:defRPr>
            </a:pPr>
            <a:r>
              <a:rPr lang="en-US" dirty="0"/>
              <a:t>R</a:t>
            </a:r>
            <a:r>
              <a:rPr dirty="0"/>
              <a:t>eferences and further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960120" cy="54864"/>
          </a:xfrm>
          <a:prstGeom prst="rect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4434840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buChar char="•"/>
              <a:defRPr sz="1500">
                <a:solidFill>
                  <a:srgbClr val="2B3441"/>
                </a:solidFill>
                <a:latin typeface="Aptos"/>
              </a:defRPr>
            </a:pPr>
            <a:r>
              <a:rPr dirty="0"/>
              <a:t>Wren, P. C., &amp; Martin, H. (latest available edition). High School English Grammar and Composition. S. Chand Publishing. (Use the edition assigned by your institution.)</a:t>
            </a:r>
          </a:p>
          <a:p>
            <a:pPr>
              <a:buChar char="•"/>
              <a:defRPr sz="1500">
                <a:solidFill>
                  <a:srgbClr val="2B3441"/>
                </a:solidFill>
                <a:latin typeface="Aptos"/>
              </a:defRPr>
            </a:pPr>
            <a:r>
              <a:rPr dirty="0"/>
              <a:t>Purdue Online Writing Lab (OWL). “Argumentative Essays,” “Developing Strong Thesis Statements,” and “Paragraphs and Paragraphing.” https://owl.purdue.edu/</a:t>
            </a:r>
          </a:p>
          <a:p>
            <a:pPr>
              <a:buChar char="•"/>
              <a:defRPr sz="1500">
                <a:solidFill>
                  <a:srgbClr val="2B3441"/>
                </a:solidFill>
                <a:latin typeface="Aptos"/>
              </a:defRPr>
            </a:pPr>
            <a:r>
              <a:rPr dirty="0"/>
              <a:t>Harvard College Writing Center. “Strategies for Essay Writing.” https://writingcenter.fas.harvard.edu/</a:t>
            </a:r>
          </a:p>
          <a:p>
            <a:pPr>
              <a:buChar char="•"/>
              <a:defRPr sz="1500">
                <a:solidFill>
                  <a:srgbClr val="2B3441"/>
                </a:solidFill>
                <a:latin typeface="Aptos"/>
              </a:defRPr>
            </a:pPr>
            <a:r>
              <a:rPr dirty="0"/>
              <a:t>UNC Writing Center. “Introductions,” “Conclusions,” and “Paragraphs.” https://writingcenter.unc.edu/</a:t>
            </a:r>
          </a:p>
          <a:p>
            <a:pPr>
              <a:buChar char="•"/>
              <a:defRPr sz="1500">
                <a:solidFill>
                  <a:srgbClr val="2B3441"/>
                </a:solidFill>
                <a:latin typeface="Aptos"/>
              </a:defRPr>
            </a:pPr>
            <a:r>
              <a:rPr dirty="0"/>
              <a:t>George Mason University Writing Center. “Writing an Essay.” https://writingcenter.gmu.edu/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1670</Words>
  <Application>Microsoft Office PowerPoint</Application>
  <PresentationFormat>Widescreen</PresentationFormat>
  <Paragraphs>187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Essay Writing: Two-Hour Lesson</dc:title>
  <dc:subject>Essay writing lesson with activities, models, and selected references</dc:subject>
  <dc:creator>OpenAI</dc:creator>
  <cp:keywords>essay writing, thesis statement, paragraph, coherence, revision, composition</cp:keywords>
  <dc:description>generated using python-pptx</dc:description>
  <cp:lastModifiedBy>Muhammad Sheeraz</cp:lastModifiedBy>
  <cp:revision>41</cp:revision>
  <dcterms:created xsi:type="dcterms:W3CDTF">2013-01-27T09:14:16Z</dcterms:created>
  <dcterms:modified xsi:type="dcterms:W3CDTF">2026-10-21T02:50:17Z</dcterms:modified>
  <cp:category/>
</cp:coreProperties>
</file>